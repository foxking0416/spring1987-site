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0" r:id="rId2"/>
    <p:sldId id="321" r:id="rId3"/>
    <p:sldId id="322" r:id="rId4"/>
    <p:sldId id="323" r:id="rId5"/>
    <p:sldId id="32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58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81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8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7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20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22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87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67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62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190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679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0234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420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798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706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364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40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8C4857C-7E7E-4D48-A405-078A20E8068E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2501884-26A3-42B5-A2FE-650E2F1971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109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95FF064-ED29-2926-2DC7-3AADCEE70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5" y="846626"/>
            <a:ext cx="3991532" cy="126700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6DE9115-9A93-6C4F-5C2E-2E8D6C54705F}"/>
              </a:ext>
            </a:extLst>
          </p:cNvPr>
          <p:cNvSpPr txBox="1"/>
          <p:nvPr/>
        </p:nvSpPr>
        <p:spPr>
          <a:xfrm>
            <a:off x="5771021" y="1827359"/>
            <a:ext cx="5321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20 x 1500 – 10 x 1000 – 0 x 500 = 20000 </a:t>
            </a:r>
            <a:r>
              <a:rPr lang="zh-TW" altLang="en-US" sz="1600" b="1" dirty="0"/>
              <a:t>本次交易損益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0A2F789-91A6-FE28-92E0-2DC9E0254D7A}"/>
              </a:ext>
            </a:extLst>
          </p:cNvPr>
          <p:cNvSpPr txBox="1"/>
          <p:nvPr/>
        </p:nvSpPr>
        <p:spPr>
          <a:xfrm>
            <a:off x="5771021" y="4208776"/>
            <a:ext cx="5377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20 x 1500 – 10 x 1000 – 10 x 500 = 15000 </a:t>
            </a:r>
            <a:r>
              <a:rPr lang="zh-TW" altLang="en-US" sz="1600" b="1" dirty="0"/>
              <a:t>本次交易損益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4EB51B-A59B-E82D-C01B-9E8ADDDCC77D}"/>
              </a:ext>
            </a:extLst>
          </p:cNvPr>
          <p:cNvSpPr/>
          <p:nvPr/>
        </p:nvSpPr>
        <p:spPr>
          <a:xfrm>
            <a:off x="6982692" y="1827359"/>
            <a:ext cx="969818" cy="3431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C7C5D6-0DF9-B269-E96D-5E59A6EABAE7}"/>
              </a:ext>
            </a:extLst>
          </p:cNvPr>
          <p:cNvSpPr/>
          <p:nvPr/>
        </p:nvSpPr>
        <p:spPr>
          <a:xfrm>
            <a:off x="8118765" y="1827359"/>
            <a:ext cx="748146" cy="34318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AF643F-26A9-8161-E038-D6930E12E232}"/>
              </a:ext>
            </a:extLst>
          </p:cNvPr>
          <p:cNvSpPr/>
          <p:nvPr/>
        </p:nvSpPr>
        <p:spPr>
          <a:xfrm>
            <a:off x="6982692" y="4204143"/>
            <a:ext cx="969818" cy="3431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24E960-073C-AEB1-1453-166F38E652A5}"/>
              </a:ext>
            </a:extLst>
          </p:cNvPr>
          <p:cNvSpPr/>
          <p:nvPr/>
        </p:nvSpPr>
        <p:spPr>
          <a:xfrm>
            <a:off x="8118764" y="4204143"/>
            <a:ext cx="849745" cy="34318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6F35FA8-529D-D5B3-3214-286A0F4DB4E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689600" y="1173019"/>
            <a:ext cx="1293092" cy="82593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86F2A6C-7432-AB77-94FB-DA9BB5655E62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730311" y="1583669"/>
            <a:ext cx="2762527" cy="24369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1620830-2CB8-712C-BA8C-0B6306829DB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680364" y="3556000"/>
            <a:ext cx="1302328" cy="81973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668766CE-93FB-BB59-F618-4E26755AEED6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5698837" y="3980345"/>
            <a:ext cx="2844800" cy="22379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547AB93-7CB6-B774-C813-65FB45EBBC44}"/>
              </a:ext>
            </a:extLst>
          </p:cNvPr>
          <p:cNvSpPr txBox="1"/>
          <p:nvPr/>
        </p:nvSpPr>
        <p:spPr>
          <a:xfrm>
            <a:off x="1514053" y="5479555"/>
            <a:ext cx="9634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/>
              <a:t>股票股利入帳日</a:t>
            </a:r>
            <a:r>
              <a:rPr lang="en-US" altLang="zh-TW" sz="1600" b="1" dirty="0"/>
              <a:t>(</a:t>
            </a:r>
            <a:r>
              <a:rPr lang="zh-TW" altLang="en-US" sz="1600" b="1" dirty="0">
                <a:solidFill>
                  <a:srgbClr val="FF0000"/>
                </a:solidFill>
              </a:rPr>
              <a:t>非除權日</a:t>
            </a:r>
            <a:r>
              <a:rPr lang="en-US" altLang="zh-TW" sz="1600" b="1" dirty="0"/>
              <a:t>)</a:t>
            </a:r>
            <a:r>
              <a:rPr lang="zh-TW" altLang="en-US" sz="1600" b="1" dirty="0"/>
              <a:t>，雖</a:t>
            </a:r>
            <a:r>
              <a:rPr lang="zh-TW" altLang="en-US" sz="1600" b="1" dirty="0">
                <a:solidFill>
                  <a:srgbClr val="FFFF00"/>
                </a:solidFill>
              </a:rPr>
              <a:t>不會影響</a:t>
            </a:r>
            <a:r>
              <a:rPr lang="zh-TW" altLang="en-US" sz="1600" b="1" dirty="0">
                <a:solidFill>
                  <a:srgbClr val="FF0000"/>
                </a:solidFill>
              </a:rPr>
              <a:t>累計損益</a:t>
            </a:r>
            <a:r>
              <a:rPr lang="zh-TW" altLang="en-US" sz="1600" b="1" dirty="0"/>
              <a:t>，但</a:t>
            </a:r>
            <a:r>
              <a:rPr lang="zh-TW" altLang="en-US" sz="1600" b="1" dirty="0">
                <a:solidFill>
                  <a:srgbClr val="FFFF00"/>
                </a:solidFill>
              </a:rPr>
              <a:t>有機會影響</a:t>
            </a:r>
            <a:r>
              <a:rPr lang="zh-TW" altLang="en-US" sz="1600" b="1" dirty="0"/>
              <a:t>到</a:t>
            </a:r>
            <a:r>
              <a:rPr lang="zh-TW" altLang="en-US" sz="1600" b="1" dirty="0">
                <a:solidFill>
                  <a:srgbClr val="FF0000"/>
                </a:solidFill>
              </a:rPr>
              <a:t>已實現損益</a:t>
            </a:r>
            <a:r>
              <a:rPr lang="zh-TW" altLang="en-US" sz="1600" b="1" dirty="0"/>
              <a:t>的計算</a:t>
            </a:r>
            <a:endParaRPr lang="en-US" altLang="zh-TW" sz="1600" b="1" dirty="0"/>
          </a:p>
          <a:p>
            <a:r>
              <a:rPr lang="zh-TW" altLang="en-US" sz="1600" b="1" dirty="0"/>
              <a:t>但此入帳日似乎無法在任何公開資訊找到資料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90251656-FCFA-7239-7054-A6DC4FC90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305" y="3280328"/>
            <a:ext cx="3991532" cy="1267002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FC3F0839-B24D-DB34-AE0A-8E5D4282CA15}"/>
              </a:ext>
            </a:extLst>
          </p:cNvPr>
          <p:cNvSpPr/>
          <p:nvPr/>
        </p:nvSpPr>
        <p:spPr>
          <a:xfrm>
            <a:off x="1707305" y="1480127"/>
            <a:ext cx="1433059" cy="43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9C592A-F7F2-E536-ED7D-F7DB08439CF0}"/>
              </a:ext>
            </a:extLst>
          </p:cNvPr>
          <p:cNvSpPr/>
          <p:nvPr/>
        </p:nvSpPr>
        <p:spPr>
          <a:xfrm>
            <a:off x="1716542" y="3913829"/>
            <a:ext cx="1433059" cy="43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D0002E0-E050-E2E7-29D6-EFB4A840F88C}"/>
              </a:ext>
            </a:extLst>
          </p:cNvPr>
          <p:cNvSpPr txBox="1"/>
          <p:nvPr/>
        </p:nvSpPr>
        <p:spPr>
          <a:xfrm>
            <a:off x="199787" y="1260181"/>
            <a:ext cx="1507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/>
              <a:t>先入帳才買入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4BA8642-A17B-CAB2-2FD9-979AA133734D}"/>
              </a:ext>
            </a:extLst>
          </p:cNvPr>
          <p:cNvSpPr txBox="1"/>
          <p:nvPr/>
        </p:nvSpPr>
        <p:spPr>
          <a:xfrm>
            <a:off x="172932" y="3865589"/>
            <a:ext cx="1507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/>
              <a:t>先買入才入帳</a:t>
            </a:r>
          </a:p>
        </p:txBody>
      </p:sp>
    </p:spTree>
    <p:extLst>
      <p:ext uri="{BB962C8B-B14F-4D97-AF65-F5344CB8AC3E}">
        <p14:creationId xmlns:p14="http://schemas.microsoft.com/office/powerpoint/2010/main" val="37341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9381D38-CA2A-01AE-57F5-0AAA0B77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335" y="1370672"/>
            <a:ext cx="7020905" cy="124794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0C39146-79A8-D768-8054-9DFEFEBB1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546" y="2797846"/>
            <a:ext cx="2495898" cy="3772426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14A6759-A0DB-602D-A9A2-2712E2051353}"/>
              </a:ext>
            </a:extLst>
          </p:cNvPr>
          <p:cNvCxnSpPr/>
          <p:nvPr/>
        </p:nvCxnSpPr>
        <p:spPr>
          <a:xfrm flipH="1">
            <a:off x="3442447" y="2519082"/>
            <a:ext cx="1443318" cy="3487271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80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24668139-C265-1ADE-78D5-FB73645C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61" y="199375"/>
            <a:ext cx="5944430" cy="12955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AAE7CE-52DD-0EB5-9E5D-BF19D426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871" y="1703380"/>
            <a:ext cx="3191320" cy="4848902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B72583D-720D-D64D-B745-C2B66DCBFFCD}"/>
              </a:ext>
            </a:extLst>
          </p:cNvPr>
          <p:cNvCxnSpPr>
            <a:cxnSpLocks/>
          </p:cNvCxnSpPr>
          <p:nvPr/>
        </p:nvCxnSpPr>
        <p:spPr>
          <a:xfrm>
            <a:off x="2115671" y="779929"/>
            <a:ext cx="973140" cy="35858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EB2451E-E68A-EF5A-48DA-AF6E76E0B0DB}"/>
              </a:ext>
            </a:extLst>
          </p:cNvPr>
          <p:cNvCxnSpPr>
            <a:cxnSpLocks/>
          </p:cNvCxnSpPr>
          <p:nvPr/>
        </p:nvCxnSpPr>
        <p:spPr>
          <a:xfrm>
            <a:off x="2115670" y="1004549"/>
            <a:ext cx="941295" cy="164900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0E598D5-38DD-B4EA-B554-5967FC1A3BDF}"/>
              </a:ext>
            </a:extLst>
          </p:cNvPr>
          <p:cNvCxnSpPr>
            <a:cxnSpLocks/>
          </p:cNvCxnSpPr>
          <p:nvPr/>
        </p:nvCxnSpPr>
        <p:spPr>
          <a:xfrm>
            <a:off x="2115670" y="1229169"/>
            <a:ext cx="941295" cy="164850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C1D9727-F951-3755-1377-067DB7DF2807}"/>
              </a:ext>
            </a:extLst>
          </p:cNvPr>
          <p:cNvCxnSpPr>
            <a:cxnSpLocks/>
          </p:cNvCxnSpPr>
          <p:nvPr/>
        </p:nvCxnSpPr>
        <p:spPr>
          <a:xfrm flipH="1">
            <a:off x="3558988" y="1255059"/>
            <a:ext cx="44824" cy="968188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A6B49395-7F6B-8D73-86D6-26432D14C2FA}"/>
              </a:ext>
            </a:extLst>
          </p:cNvPr>
          <p:cNvSpPr/>
          <p:nvPr/>
        </p:nvSpPr>
        <p:spPr>
          <a:xfrm>
            <a:off x="672353" y="636492"/>
            <a:ext cx="1559859" cy="215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97391C-3CAF-4287-AE6B-A599A53270B5}"/>
              </a:ext>
            </a:extLst>
          </p:cNvPr>
          <p:cNvSpPr/>
          <p:nvPr/>
        </p:nvSpPr>
        <p:spPr>
          <a:xfrm>
            <a:off x="672353" y="896470"/>
            <a:ext cx="1559859" cy="20618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695B30-FC0A-2892-C4FA-61A553D0F5B8}"/>
              </a:ext>
            </a:extLst>
          </p:cNvPr>
          <p:cNvSpPr/>
          <p:nvPr/>
        </p:nvSpPr>
        <p:spPr>
          <a:xfrm>
            <a:off x="672353" y="1137288"/>
            <a:ext cx="1559859" cy="20618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4459FF-F24E-1F30-1FB8-0225907F4B6F}"/>
              </a:ext>
            </a:extLst>
          </p:cNvPr>
          <p:cNvSpPr/>
          <p:nvPr/>
        </p:nvSpPr>
        <p:spPr>
          <a:xfrm>
            <a:off x="3245223" y="977154"/>
            <a:ext cx="690284" cy="23756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433EDA-D76E-A7A2-8251-D450A650DFF0}"/>
              </a:ext>
            </a:extLst>
          </p:cNvPr>
          <p:cNvSpPr/>
          <p:nvPr/>
        </p:nvSpPr>
        <p:spPr>
          <a:xfrm>
            <a:off x="3088811" y="2235614"/>
            <a:ext cx="797859" cy="23756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78B361-3DB0-121E-017C-258E2336A1BB}"/>
              </a:ext>
            </a:extLst>
          </p:cNvPr>
          <p:cNvSpPr/>
          <p:nvPr/>
        </p:nvSpPr>
        <p:spPr>
          <a:xfrm>
            <a:off x="3147497" y="3928538"/>
            <a:ext cx="3061033" cy="22566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436453-4EA0-6BA0-4D08-3E359E2EFEA6}"/>
              </a:ext>
            </a:extLst>
          </p:cNvPr>
          <p:cNvSpPr/>
          <p:nvPr/>
        </p:nvSpPr>
        <p:spPr>
          <a:xfrm>
            <a:off x="3115706" y="2473843"/>
            <a:ext cx="1828800" cy="21515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AF1158C-4243-85C0-0D7A-9D1F6A9E17A0}"/>
              </a:ext>
            </a:extLst>
          </p:cNvPr>
          <p:cNvSpPr/>
          <p:nvPr/>
        </p:nvSpPr>
        <p:spPr>
          <a:xfrm>
            <a:off x="3106742" y="2732590"/>
            <a:ext cx="1846729" cy="21638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E94BC1D-F082-082F-0F97-DA029D948E1A}"/>
              </a:ext>
            </a:extLst>
          </p:cNvPr>
          <p:cNvSpPr/>
          <p:nvPr/>
        </p:nvSpPr>
        <p:spPr>
          <a:xfrm>
            <a:off x="4016188" y="932329"/>
            <a:ext cx="905436" cy="28687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</a:rPr>
              <a:t>新按鈕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AF104FE-4721-9EE5-FF24-C12DC45BB553}"/>
              </a:ext>
            </a:extLst>
          </p:cNvPr>
          <p:cNvSpPr txBox="1"/>
          <p:nvPr/>
        </p:nvSpPr>
        <p:spPr>
          <a:xfrm>
            <a:off x="6280191" y="4930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原本散落各處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5EC707C-84F1-AE3D-13BC-E6A6758FAF09}"/>
              </a:ext>
            </a:extLst>
          </p:cNvPr>
          <p:cNvSpPr txBox="1"/>
          <p:nvPr/>
        </p:nvSpPr>
        <p:spPr>
          <a:xfrm>
            <a:off x="6338817" y="355920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改成集中在一起</a:t>
            </a:r>
          </a:p>
        </p:txBody>
      </p:sp>
    </p:spTree>
    <p:extLst>
      <p:ext uri="{BB962C8B-B14F-4D97-AF65-F5344CB8AC3E}">
        <p14:creationId xmlns:p14="http://schemas.microsoft.com/office/powerpoint/2010/main" val="3497547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2A81F97-4E2F-1008-A3D6-955E0E1EE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77" y="0"/>
            <a:ext cx="8958919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C4C005B-C1B8-15FC-AC9C-F475D79203D3}"/>
              </a:ext>
            </a:extLst>
          </p:cNvPr>
          <p:cNvSpPr/>
          <p:nvPr/>
        </p:nvSpPr>
        <p:spPr>
          <a:xfrm>
            <a:off x="5836025" y="4858871"/>
            <a:ext cx="851647" cy="26894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7FE75-6827-C787-E20D-E38C9B0D7386}"/>
              </a:ext>
            </a:extLst>
          </p:cNvPr>
          <p:cNvSpPr/>
          <p:nvPr/>
        </p:nvSpPr>
        <p:spPr>
          <a:xfrm>
            <a:off x="3110755" y="1775012"/>
            <a:ext cx="1057835" cy="26894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05FD995-1F97-E7D3-4B8E-A9672FD664CB}"/>
              </a:ext>
            </a:extLst>
          </p:cNvPr>
          <p:cNvSpPr txBox="1"/>
          <p:nvPr/>
        </p:nvSpPr>
        <p:spPr>
          <a:xfrm>
            <a:off x="80682" y="2958353"/>
            <a:ext cx="2593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防呆：</a:t>
            </a:r>
            <a:endParaRPr lang="en-US" altLang="zh-TW" dirty="0"/>
          </a:p>
          <a:p>
            <a:r>
              <a:rPr lang="zh-TW" altLang="en-US" dirty="0"/>
              <a:t>當個股曾經有過交易造成庫存為負值時，會從該筆交易開始顯示紅色。</a:t>
            </a:r>
            <a:endParaRPr lang="en-US" altLang="zh-TW" dirty="0"/>
          </a:p>
          <a:p>
            <a:r>
              <a:rPr lang="zh-TW" altLang="en-US" dirty="0"/>
              <a:t>總表也會用紅色警示庫存有誤</a:t>
            </a:r>
          </a:p>
        </p:txBody>
      </p:sp>
    </p:spTree>
    <p:extLst>
      <p:ext uri="{BB962C8B-B14F-4D97-AF65-F5344CB8AC3E}">
        <p14:creationId xmlns:p14="http://schemas.microsoft.com/office/powerpoint/2010/main" val="318965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88F8028-70CF-A609-AF02-CA046289CA64}"/>
              </a:ext>
            </a:extLst>
          </p:cNvPr>
          <p:cNvSpPr txBox="1"/>
          <p:nvPr/>
        </p:nvSpPr>
        <p:spPr>
          <a:xfrm>
            <a:off x="448626" y="1567516"/>
            <a:ext cx="5094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2/1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買進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10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10000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en-US" altLang="zh-TW" b="1" dirty="0"/>
              <a:t>2/2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買進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11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11000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en-US" altLang="zh-TW" b="1" dirty="0"/>
              <a:t>2/3</a:t>
            </a:r>
            <a:r>
              <a:rPr lang="zh-TW" altLang="en-US" b="1" dirty="0"/>
              <a:t>  配發  </a:t>
            </a:r>
            <a:r>
              <a:rPr lang="en-US" altLang="zh-TW" b="1" dirty="0"/>
              <a:t>2000</a:t>
            </a:r>
            <a:r>
              <a:rPr lang="zh-TW" altLang="en-US" b="1" dirty="0"/>
              <a:t>元現金股利</a:t>
            </a:r>
            <a:endParaRPr lang="en-US" altLang="zh-TW" b="1" dirty="0"/>
          </a:p>
          <a:p>
            <a:r>
              <a:rPr lang="en-US" altLang="zh-TW" b="1" dirty="0"/>
              <a:t>2/4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rgbClr val="00B0F0"/>
                </a:solidFill>
              </a:rPr>
              <a:t>賣出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15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15000</a:t>
            </a:r>
            <a:r>
              <a:rPr lang="zh-TW" altLang="en-US" b="1" dirty="0"/>
              <a:t>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140C931-F88A-009E-C624-A4A15805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6" y="593434"/>
            <a:ext cx="2419688" cy="9621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1A23938-6735-67EA-3C2C-4AFDFA2A3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6" y="2947920"/>
            <a:ext cx="2419688" cy="96215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1C08F00-082B-9E12-B1E4-F025291E7ADE}"/>
              </a:ext>
            </a:extLst>
          </p:cNvPr>
          <p:cNvSpPr txBox="1"/>
          <p:nvPr/>
        </p:nvSpPr>
        <p:spPr>
          <a:xfrm>
            <a:off x="448626" y="3919261"/>
            <a:ext cx="5094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2/1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買進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10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10000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en-US" altLang="zh-TW" b="1" dirty="0"/>
              <a:t>2/2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</a:rPr>
              <a:t>買進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11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11000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en-US" altLang="zh-TW" b="1" dirty="0"/>
              <a:t>2/3</a:t>
            </a:r>
            <a:r>
              <a:rPr lang="zh-TW" altLang="en-US" b="1" dirty="0"/>
              <a:t>  配發  </a:t>
            </a:r>
            <a:r>
              <a:rPr lang="en-US" altLang="zh-TW" b="1" dirty="0"/>
              <a:t>2000</a:t>
            </a:r>
            <a:r>
              <a:rPr lang="zh-TW" altLang="en-US" b="1" dirty="0"/>
              <a:t>元現金股利</a:t>
            </a:r>
            <a:endParaRPr lang="en-US" altLang="zh-TW" b="1" dirty="0"/>
          </a:p>
          <a:p>
            <a:r>
              <a:rPr lang="en-US" altLang="zh-TW" b="1" dirty="0"/>
              <a:t>2/4</a:t>
            </a:r>
            <a:r>
              <a:rPr lang="zh-TW" altLang="en-US" b="1" dirty="0"/>
              <a:t>  </a:t>
            </a:r>
            <a:r>
              <a:rPr lang="zh-TW" altLang="en-US" b="1" dirty="0">
                <a:solidFill>
                  <a:srgbClr val="00B0F0"/>
                </a:solidFill>
              </a:rPr>
              <a:t>賣出</a:t>
            </a:r>
            <a:r>
              <a:rPr lang="zh-TW" altLang="en-US" b="1" dirty="0"/>
              <a:t>  </a:t>
            </a:r>
            <a:r>
              <a:rPr lang="en-US" altLang="zh-TW" b="1" dirty="0"/>
              <a:t>1000</a:t>
            </a:r>
            <a:r>
              <a:rPr lang="zh-TW" altLang="en-US" b="1" dirty="0"/>
              <a:t>股  每股</a:t>
            </a:r>
            <a:r>
              <a:rPr lang="en-US" altLang="zh-TW" b="1" dirty="0"/>
              <a:t>15</a:t>
            </a:r>
            <a:r>
              <a:rPr lang="zh-TW" altLang="en-US" b="1" dirty="0"/>
              <a:t>元  交易金額 </a:t>
            </a:r>
            <a:r>
              <a:rPr lang="en-US" altLang="zh-TW" b="1" dirty="0"/>
              <a:t>15000</a:t>
            </a:r>
            <a:r>
              <a:rPr lang="zh-TW" altLang="en-US" b="1" dirty="0"/>
              <a:t>元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3CC9E66-97A8-5338-4F0F-0941AC648DD7}"/>
              </a:ext>
            </a:extLst>
          </p:cNvPr>
          <p:cNvSpPr txBox="1"/>
          <p:nvPr/>
        </p:nvSpPr>
        <p:spPr>
          <a:xfrm>
            <a:off x="5459896" y="1567516"/>
            <a:ext cx="56316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累計成本 </a:t>
            </a:r>
            <a:r>
              <a:rPr lang="en-US" altLang="zh-TW" b="1" dirty="0"/>
              <a:t>10000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10000</a:t>
            </a:r>
            <a:r>
              <a:rPr lang="zh-TW" altLang="en-US" b="1" dirty="0"/>
              <a:t> </a:t>
            </a:r>
            <a:r>
              <a:rPr lang="en-US" altLang="zh-TW" b="1" dirty="0"/>
              <a:t>+</a:t>
            </a:r>
            <a:r>
              <a:rPr lang="zh-TW" altLang="en-US" b="1" dirty="0"/>
              <a:t> </a:t>
            </a:r>
            <a:r>
              <a:rPr lang="en-US" altLang="zh-TW" b="1" dirty="0"/>
              <a:t>11000</a:t>
            </a:r>
            <a:r>
              <a:rPr lang="zh-TW" altLang="en-US" b="1" dirty="0"/>
              <a:t> </a:t>
            </a:r>
            <a:r>
              <a:rPr lang="en-US" altLang="zh-TW" b="1" dirty="0"/>
              <a:t>=</a:t>
            </a:r>
            <a:r>
              <a:rPr lang="zh-TW" altLang="en-US" b="1" dirty="0"/>
              <a:t> </a:t>
            </a:r>
            <a:r>
              <a:rPr lang="en-US" altLang="zh-TW" b="1" dirty="0"/>
              <a:t>21000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21000</a:t>
            </a:r>
            <a:r>
              <a:rPr lang="zh-TW" altLang="en-US" b="1" dirty="0"/>
              <a:t> </a:t>
            </a:r>
            <a:r>
              <a:rPr lang="en-US" altLang="zh-TW" b="1" dirty="0"/>
              <a:t>–</a:t>
            </a:r>
            <a:r>
              <a:rPr lang="zh-TW" altLang="en-US" b="1" dirty="0"/>
              <a:t> </a:t>
            </a:r>
            <a:r>
              <a:rPr lang="en-US" altLang="zh-TW" b="1" dirty="0"/>
              <a:t>2000</a:t>
            </a:r>
            <a:r>
              <a:rPr lang="zh-TW" altLang="en-US" b="1" dirty="0"/>
              <a:t> </a:t>
            </a:r>
            <a:r>
              <a:rPr lang="en-US" altLang="zh-TW" b="1" dirty="0"/>
              <a:t>=</a:t>
            </a:r>
            <a:r>
              <a:rPr lang="zh-TW" altLang="en-US" b="1" dirty="0"/>
              <a:t> </a:t>
            </a:r>
            <a:r>
              <a:rPr lang="en-US" altLang="zh-TW" b="1" dirty="0"/>
              <a:t>19000</a:t>
            </a:r>
            <a:r>
              <a:rPr lang="zh-TW" altLang="en-US" b="1" dirty="0"/>
              <a:t>元 </a:t>
            </a:r>
            <a:r>
              <a:rPr lang="en-US" altLang="zh-TW" b="1" dirty="0"/>
              <a:t>(</a:t>
            </a:r>
            <a:r>
              <a:rPr lang="zh-TW" altLang="en-US" b="1" dirty="0"/>
              <a:t>累計成本扣股利</a:t>
            </a:r>
            <a:r>
              <a:rPr lang="en-US" altLang="zh-TW" b="1" dirty="0"/>
              <a:t>)</a:t>
            </a:r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19000</a:t>
            </a:r>
            <a:r>
              <a:rPr lang="zh-TW" altLang="en-US" b="1" dirty="0"/>
              <a:t> </a:t>
            </a:r>
            <a:r>
              <a:rPr lang="en-US" altLang="zh-TW" b="1" dirty="0"/>
              <a:t>–</a:t>
            </a:r>
            <a:r>
              <a:rPr lang="zh-TW" altLang="en-US" b="1" dirty="0"/>
              <a:t> </a:t>
            </a:r>
            <a:r>
              <a:rPr lang="en-US" altLang="zh-TW" b="1" dirty="0"/>
              <a:t>15000</a:t>
            </a:r>
            <a:r>
              <a:rPr lang="zh-TW" altLang="en-US" b="1" dirty="0"/>
              <a:t> </a:t>
            </a:r>
            <a:r>
              <a:rPr lang="en-US" altLang="zh-TW" b="1" dirty="0"/>
              <a:t>=</a:t>
            </a:r>
            <a:r>
              <a:rPr lang="zh-TW" altLang="en-US" b="1" dirty="0"/>
              <a:t> </a:t>
            </a:r>
            <a:r>
              <a:rPr lang="en-US" altLang="zh-TW" b="1" dirty="0"/>
              <a:t>4000</a:t>
            </a:r>
            <a:r>
              <a:rPr lang="zh-TW" altLang="en-US" b="1" dirty="0"/>
              <a:t>元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EB79621-A745-7E3A-237A-E57F5E650DFD}"/>
              </a:ext>
            </a:extLst>
          </p:cNvPr>
          <p:cNvSpPr txBox="1"/>
          <p:nvPr/>
        </p:nvSpPr>
        <p:spPr>
          <a:xfrm>
            <a:off x="5459896" y="3919260"/>
            <a:ext cx="41392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累計成本 </a:t>
            </a:r>
            <a:r>
              <a:rPr lang="en-US" altLang="zh-TW" b="1" dirty="0"/>
              <a:t>10000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10000</a:t>
            </a:r>
            <a:r>
              <a:rPr lang="zh-TW" altLang="en-US" b="1" dirty="0"/>
              <a:t> </a:t>
            </a:r>
            <a:r>
              <a:rPr lang="en-US" altLang="zh-TW" b="1" dirty="0"/>
              <a:t>+</a:t>
            </a:r>
            <a:r>
              <a:rPr lang="zh-TW" altLang="en-US" b="1" dirty="0"/>
              <a:t> </a:t>
            </a:r>
            <a:r>
              <a:rPr lang="en-US" altLang="zh-TW" b="1" dirty="0"/>
              <a:t>11000</a:t>
            </a:r>
            <a:r>
              <a:rPr lang="zh-TW" altLang="en-US" b="1" dirty="0"/>
              <a:t> </a:t>
            </a:r>
            <a:r>
              <a:rPr lang="en-US" altLang="zh-TW" b="1" dirty="0"/>
              <a:t>=</a:t>
            </a:r>
            <a:r>
              <a:rPr lang="zh-TW" altLang="en-US" b="1" dirty="0"/>
              <a:t> </a:t>
            </a:r>
            <a:r>
              <a:rPr lang="en-US" altLang="zh-TW" b="1" dirty="0"/>
              <a:t>21000</a:t>
            </a:r>
            <a:r>
              <a:rPr lang="zh-TW" altLang="en-US" b="1" dirty="0"/>
              <a:t>元</a:t>
            </a:r>
            <a:endParaRPr lang="en-US" altLang="zh-TW" b="1" dirty="0"/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21000</a:t>
            </a:r>
            <a:r>
              <a:rPr lang="zh-TW" altLang="en-US" b="1" dirty="0"/>
              <a:t>元 </a:t>
            </a:r>
            <a:r>
              <a:rPr lang="en-US" altLang="zh-TW" b="1" dirty="0"/>
              <a:t>(</a:t>
            </a:r>
            <a:r>
              <a:rPr lang="zh-TW" altLang="en-US" b="1" dirty="0"/>
              <a:t>累計成本不扣股利</a:t>
            </a:r>
            <a:r>
              <a:rPr lang="en-US" altLang="zh-TW" b="1" dirty="0"/>
              <a:t>)</a:t>
            </a:r>
          </a:p>
          <a:p>
            <a:r>
              <a:rPr lang="zh-TW" altLang="en-US" b="1" dirty="0"/>
              <a:t>累計成本 </a:t>
            </a:r>
            <a:r>
              <a:rPr lang="en-US" altLang="zh-TW" b="1" dirty="0"/>
              <a:t>21000</a:t>
            </a:r>
            <a:r>
              <a:rPr lang="zh-TW" altLang="en-US" b="1" dirty="0"/>
              <a:t> </a:t>
            </a:r>
            <a:r>
              <a:rPr lang="en-US" altLang="zh-TW" b="1" dirty="0"/>
              <a:t>–</a:t>
            </a:r>
            <a:r>
              <a:rPr lang="zh-TW" altLang="en-US" b="1" dirty="0"/>
              <a:t> </a:t>
            </a:r>
            <a:r>
              <a:rPr lang="en-US" altLang="zh-TW" b="1" dirty="0"/>
              <a:t>15000</a:t>
            </a:r>
            <a:r>
              <a:rPr lang="zh-TW" altLang="en-US" b="1" dirty="0"/>
              <a:t> </a:t>
            </a:r>
            <a:r>
              <a:rPr lang="en-US" altLang="zh-TW" b="1" dirty="0"/>
              <a:t>=</a:t>
            </a:r>
            <a:r>
              <a:rPr lang="zh-TW" altLang="en-US" b="1" dirty="0"/>
              <a:t> </a:t>
            </a:r>
            <a:r>
              <a:rPr lang="en-US" altLang="zh-TW" b="1" dirty="0"/>
              <a:t>6000</a:t>
            </a:r>
            <a:r>
              <a:rPr lang="zh-TW" altLang="en-US" b="1" dirty="0"/>
              <a:t>元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582551-6CDA-1824-6B51-B595E7E9E288}"/>
              </a:ext>
            </a:extLst>
          </p:cNvPr>
          <p:cNvSpPr txBox="1"/>
          <p:nvPr/>
        </p:nvSpPr>
        <p:spPr>
          <a:xfrm>
            <a:off x="2995958" y="324433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FF00"/>
                </a:solidFill>
              </a:rPr>
              <a:t>累計成本不扣股利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70EC95-E25A-1BDB-8EA6-2EA107311DD9}"/>
              </a:ext>
            </a:extLst>
          </p:cNvPr>
          <p:cNvSpPr txBox="1"/>
          <p:nvPr/>
        </p:nvSpPr>
        <p:spPr>
          <a:xfrm>
            <a:off x="2995958" y="8607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FF00"/>
                </a:solidFill>
              </a:rPr>
              <a:t>累計成本扣股利</a:t>
            </a:r>
          </a:p>
        </p:txBody>
      </p:sp>
    </p:spTree>
    <p:extLst>
      <p:ext uri="{BB962C8B-B14F-4D97-AF65-F5344CB8AC3E}">
        <p14:creationId xmlns:p14="http://schemas.microsoft.com/office/powerpoint/2010/main" val="1030976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網狀</Template>
  <TotalTime>744</TotalTime>
  <Words>281</Words>
  <Application>Microsoft Office PowerPoint</Application>
  <PresentationFormat>寬螢幕</PresentationFormat>
  <Paragraphs>30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網狀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WeiChien Tu</dc:creator>
  <cp:lastModifiedBy>WeiChien Tu</cp:lastModifiedBy>
  <cp:revision>8</cp:revision>
  <dcterms:created xsi:type="dcterms:W3CDTF">2025-04-18T01:43:09Z</dcterms:created>
  <dcterms:modified xsi:type="dcterms:W3CDTF">2025-05-01T06:40:26Z</dcterms:modified>
</cp:coreProperties>
</file>